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C7F60F-7DD1-466F-8E5C-C3BB796F74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67F57-C9DB-428D-8C0A-73E0A99D7F2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OPENING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F8632-BA2B-4132-B617-83484E8718E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receipt leaks the edge before the trade does.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4D53B-FBD4-4F73-AD45-96ED0AB82EFA}"/>
              </a:ext>
            </a:extLst>
          </p:cNvPr>
          <p:cNvSpPr>
            <a:spLocks noGrp="1"/>
          </p:cNvSpPr>
          <p:nvPr/>
        </p:nvSpPr>
        <p:spPr>
          <a:xfrm>
            <a:off x="11125200" y="6115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A8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1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5766D-D7D4-4625-B5DF-56FFB84FA331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96500" cy="9525"/>
          </a:xfrm>
          <a:prstGeom prst="rect">
            <a:avLst/>
          </a:prstGeom>
          <a:solidFill>
            <a:srgbClr val="D8D2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E2AAF2-7F48-4441-BC81-B8A0D79EA11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476500" cy="31432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B5802-C2DD-4427-9AAA-59C2AAA0FF7F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Alice spots a spread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DC765D-1BA1-454F-8E89-9A10ECD5451C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476500" cy="3143250"/>
          </a:xfrm>
          <a:prstGeom prst="rect">
            <a:avLst/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52150-9BD5-40EB-878B-A03774960895}"/>
              </a:ext>
            </a:extLst>
          </p:cNvPr>
          <p:cNvSpPr>
            <a:spLocks noGrp="1"/>
          </p:cNvSpPr>
          <p:nvPr/>
        </p:nvSpPr>
        <p:spPr>
          <a:xfrm>
            <a:off x="3505200" y="198120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She buys research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277229-69D1-42D6-B87D-5F93DEB422F3}"/>
              </a:ext>
            </a:extLst>
          </p:cNvPr>
          <p:cNvSpPr>
            <a:spLocks noGrp="1"/>
          </p:cNvSpPr>
          <p:nvPr/>
        </p:nvSpPr>
        <p:spPr>
          <a:xfrm>
            <a:off x="6000750" y="1809750"/>
            <a:ext cx="2476500" cy="31432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8737D6-DAFD-4C32-BD7C-5B8016AFB83A}"/>
              </a:ext>
            </a:extLst>
          </p:cNvPr>
          <p:cNvSpPr>
            <a:spLocks noGrp="1"/>
          </p:cNvSpPr>
          <p:nvPr/>
        </p:nvSpPr>
        <p:spPr>
          <a:xfrm>
            <a:off x="6172200" y="198120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Bob connects receipts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6499FB-99F5-49AD-AE94-F65830108C84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2476500" cy="3143250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17A1D-3555-41DB-A37A-7B91498EBF39}"/>
              </a:ext>
            </a:extLst>
          </p:cNvPr>
          <p:cNvSpPr>
            <a:spLocks noGrp="1"/>
          </p:cNvSpPr>
          <p:nvPr/>
        </p:nvSpPr>
        <p:spPr>
          <a:xfrm>
            <a:off x="8839200" y="198120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Her edge compresses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EC7C17-260A-4876-9796-94E9B833531E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 dirty="0">
                <a:solidFill>
                  <a:srgbClr val="16A34A"/>
                </a:solidFill>
                <a:latin typeface="Aptos"/>
                <a:ea typeface="Aptos"/>
                <a:cs typeface="Aptos"/>
              </a:rPr>
              <a:t>+2.7% spread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04378B-5E8A-4A52-B735-AD7109074360}"/>
              </a:ext>
            </a:extLst>
          </p:cNvPr>
          <p:cNvSpPr>
            <a:spLocks noGrp="1"/>
          </p:cNvSpPr>
          <p:nvPr/>
        </p:nvSpPr>
        <p:spPr>
          <a:xfrm>
            <a:off x="1238250" y="3505200"/>
            <a:ext cx="1333500" cy="78105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956E0-711A-4AB6-9DE3-38AF426679B4}"/>
              </a:ext>
            </a:extLst>
          </p:cNvPr>
          <p:cNvSpPr>
            <a:spLocks noGrp="1"/>
          </p:cNvSpPr>
          <p:nvPr/>
        </p:nvSpPr>
        <p:spPr>
          <a:xfrm>
            <a:off x="1371600" y="36957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Prediction market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News signal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4AE8BB-259F-4D44-B07C-3F7BC9027DD9}"/>
              </a:ext>
            </a:extLst>
          </p:cNvPr>
          <p:cNvSpPr>
            <a:spLocks noGrp="1"/>
          </p:cNvSpPr>
          <p:nvPr/>
        </p:nvSpPr>
        <p:spPr>
          <a:xfrm>
            <a:off x="3752850" y="2876550"/>
            <a:ext cx="1638300" cy="323850"/>
          </a:xfrm>
          <a:prstGeom prst="rect">
            <a:avLst/>
          </a:prstGeom>
          <a:solidFill>
            <a:srgbClr val="FED7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951305-657A-4480-B34A-C8C6F955FAA6}"/>
              </a:ext>
            </a:extLst>
          </p:cNvPr>
          <p:cNvSpPr>
            <a:spLocks noGrp="1"/>
          </p:cNvSpPr>
          <p:nvPr/>
        </p:nvSpPr>
        <p:spPr>
          <a:xfrm>
            <a:off x="3867150" y="2952750"/>
            <a:ext cx="1409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Market Data $0.01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85AB5-4CBB-496F-B7EF-BC1BF885D2E2}"/>
              </a:ext>
            </a:extLst>
          </p:cNvPr>
          <p:cNvSpPr>
            <a:spLocks noGrp="1"/>
          </p:cNvSpPr>
          <p:nvPr/>
        </p:nvSpPr>
        <p:spPr>
          <a:xfrm>
            <a:off x="3752850" y="3314700"/>
            <a:ext cx="1638300" cy="323850"/>
          </a:xfrm>
          <a:prstGeom prst="rect">
            <a:avLst/>
          </a:prstGeom>
          <a:solidFill>
            <a:srgbClr val="FED7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46F4C5-6E39-4F49-80A4-6EB1B8DAD7C7}"/>
              </a:ext>
            </a:extLst>
          </p:cNvPr>
          <p:cNvSpPr>
            <a:spLocks noGrp="1"/>
          </p:cNvSpPr>
          <p:nvPr/>
        </p:nvSpPr>
        <p:spPr>
          <a:xfrm>
            <a:off x="3867150" y="3390900"/>
            <a:ext cx="1409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News Search $0.007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6C36D6-44D5-4DCF-95C0-A2C37D53C77B}"/>
              </a:ext>
            </a:extLst>
          </p:cNvPr>
          <p:cNvSpPr>
            <a:spLocks noGrp="1"/>
          </p:cNvSpPr>
          <p:nvPr/>
        </p:nvSpPr>
        <p:spPr>
          <a:xfrm>
            <a:off x="3790950" y="3943350"/>
            <a:ext cx="1562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public wallet: 0xA...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BFB4B0-B577-4609-A41D-687B2BF911BF}"/>
              </a:ext>
            </a:extLst>
          </p:cNvPr>
          <p:cNvSpPr>
            <a:spLocks noGrp="1"/>
          </p:cNvSpPr>
          <p:nvPr/>
        </p:nvSpPr>
        <p:spPr>
          <a:xfrm>
            <a:off x="3943350" y="44005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Privacy Adapter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F00DF3-E934-4DF9-BAE7-DE77621B7015}"/>
              </a:ext>
            </a:extLst>
          </p:cNvPr>
          <p:cNvSpPr>
            <a:spLocks noGrp="1"/>
          </p:cNvSpPr>
          <p:nvPr/>
        </p:nvSpPr>
        <p:spPr>
          <a:xfrm>
            <a:off x="4267200" y="4133850"/>
            <a:ext cx="552450" cy="2286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57253E-DB7B-4B09-A057-87D0E1D19AAA}"/>
              </a:ext>
            </a:extLst>
          </p:cNvPr>
          <p:cNvSpPr>
            <a:spLocks noGrp="1"/>
          </p:cNvSpPr>
          <p:nvPr/>
        </p:nvSpPr>
        <p:spPr>
          <a:xfrm>
            <a:off x="6381750" y="2809875"/>
            <a:ext cx="1123950" cy="323850"/>
          </a:xfrm>
          <a:prstGeom prst="rect">
            <a:avLst/>
          </a:prstGeom>
          <a:solidFill>
            <a:srgbClr val="1F2937"/>
          </a:solidFill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A22A0E-0D16-4786-B7B2-2E853EA33406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AF1761-C583-4A97-875E-676F83EC03D5}"/>
              </a:ext>
            </a:extLst>
          </p:cNvPr>
          <p:cNvSpPr>
            <a:spLocks noGrp="1"/>
          </p:cNvSpPr>
          <p:nvPr/>
        </p:nvSpPr>
        <p:spPr>
          <a:xfrm>
            <a:off x="7258050" y="3286125"/>
            <a:ext cx="1123950" cy="323850"/>
          </a:xfrm>
          <a:prstGeom prst="rect">
            <a:avLst/>
          </a:prstGeom>
          <a:solidFill>
            <a:srgbClr val="1F2937"/>
          </a:solidFill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FFCF01-291B-49AF-B2B5-94150B6B9292}"/>
              </a:ext>
            </a:extLst>
          </p:cNvPr>
          <p:cNvSpPr>
            <a:spLocks noGrp="1"/>
          </p:cNvSpPr>
          <p:nvPr/>
        </p:nvSpPr>
        <p:spPr>
          <a:xfrm>
            <a:off x="7334250" y="3371850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News Search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08CAB7-82F8-4278-B878-D229EFB0E72D}"/>
              </a:ext>
            </a:extLst>
          </p:cNvPr>
          <p:cNvSpPr>
            <a:spLocks noGrp="1"/>
          </p:cNvSpPr>
          <p:nvPr/>
        </p:nvSpPr>
        <p:spPr>
          <a:xfrm>
            <a:off x="6381750" y="3762375"/>
            <a:ext cx="1123950" cy="323850"/>
          </a:xfrm>
          <a:prstGeom prst="rect">
            <a:avLst/>
          </a:prstGeom>
          <a:solidFill>
            <a:srgbClr val="1F2937"/>
          </a:solidFill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BF4ED8-B69B-48EE-BD19-F8BBFF0EF16E}"/>
              </a:ext>
            </a:extLst>
          </p:cNvPr>
          <p:cNvSpPr>
            <a:spLocks noGrp="1"/>
          </p:cNvSpPr>
          <p:nvPr/>
        </p:nvSpPr>
        <p:spPr>
          <a:xfrm>
            <a:off x="6457950" y="3848100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Trade 3 min later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AE7FDE5D-DD7F-42A3-8B94-0242B6C14541}"/>
              </a:ext>
            </a:extLst>
          </p:cNvPr>
          <p:cNvSpPr>
            <a:spLocks noGrp="1"/>
          </p:cNvSpPr>
          <p:nvPr/>
        </p:nvSpPr>
        <p:spPr>
          <a:xfrm>
            <a:off x="6877050" y="3124200"/>
            <a:ext cx="85725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93AE1E2E-6156-481F-AE1B-48C3E58D9551}"/>
              </a:ext>
            </a:extLst>
          </p:cNvPr>
          <p:cNvSpPr>
            <a:spLocks noGrp="1"/>
          </p:cNvSpPr>
          <p:nvPr/>
        </p:nvSpPr>
        <p:spPr>
          <a:xfrm>
            <a:off x="7029450" y="3600450"/>
            <a:ext cx="81915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697717-3CE7-4932-AAD7-1DFBFB6B6C8A}"/>
              </a:ext>
            </a:extLst>
          </p:cNvPr>
          <p:cNvSpPr>
            <a:spLocks noGrp="1"/>
          </p:cNvSpPr>
          <p:nvPr/>
        </p:nvSpPr>
        <p:spPr>
          <a:xfrm>
            <a:off x="6553200" y="44005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CA5A5"/>
                </a:solidFill>
                <a:latin typeface="Aptos"/>
                <a:ea typeface="Aptos"/>
                <a:cs typeface="Aptos"/>
              </a:rPr>
              <a:t>Strategy Pattern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7D7302-289B-4E41-8D9E-D7DF41A9965F}"/>
              </a:ext>
            </a:extLst>
          </p:cNvPr>
          <p:cNvSpPr>
            <a:spLocks noGrp="1"/>
          </p:cNvSpPr>
          <p:nvPr/>
        </p:nvSpPr>
        <p:spPr>
          <a:xfrm>
            <a:off x="9163050" y="29337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+2.7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D0E45123-7989-4E6A-888F-4978452A9F0C}"/>
              </a:ext>
            </a:extLst>
          </p:cNvPr>
          <p:cNvSpPr>
            <a:spLocks noGrp="1"/>
          </p:cNvSpPr>
          <p:nvPr/>
        </p:nvSpPr>
        <p:spPr>
          <a:xfrm>
            <a:off x="9906000" y="3086100"/>
            <a:ext cx="4000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C75FA0-7A34-4E8D-89C4-A71B8CEAF9F1}"/>
              </a:ext>
            </a:extLst>
          </p:cNvPr>
          <p:cNvSpPr>
            <a:spLocks noGrp="1"/>
          </p:cNvSpPr>
          <p:nvPr/>
        </p:nvSpPr>
        <p:spPr>
          <a:xfrm>
            <a:off x="10363200" y="29337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+0.6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5B41F0-1B6C-4B93-B960-C90F7784C8A4}"/>
              </a:ext>
            </a:extLst>
          </p:cNvPr>
          <p:cNvSpPr>
            <a:spLocks noGrp="1"/>
          </p:cNvSpPr>
          <p:nvPr/>
        </p:nvSpPr>
        <p:spPr>
          <a:xfrm>
            <a:off x="9144000" y="327660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expected spread,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33D901-B54C-4A5F-8708-3E04BB87680B}"/>
              </a:ext>
            </a:extLst>
          </p:cNvPr>
          <p:cNvSpPr>
            <a:spLocks noGrp="1"/>
          </p:cNvSpPr>
          <p:nvPr/>
        </p:nvSpPr>
        <p:spPr>
          <a:xfrm>
            <a:off x="8934450" y="3771900"/>
            <a:ext cx="19431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stolen key.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leaked prompt.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Just public receipts turning into trading intelligence.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C2F153-1AA8-436B-8B00-BC7DEF24B5C1}"/>
              </a:ext>
            </a:extLst>
          </p:cNvPr>
          <p:cNvSpPr>
            <a:spLocks noGrp="1"/>
          </p:cNvSpPr>
          <p:nvPr/>
        </p:nvSpPr>
        <p:spPr>
          <a:xfrm>
            <a:off x="666750" y="533400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Solid truth: payment metadata is already intent metadata; privacy reduces the durable wallet linkage in that trail.</a:t>
            </a:r>
          </a:p>
        </p:txBody>
      </p:sp>
    </p:spTree>
    <p:extLst>
      <p:ext uri="{BB962C8B-B14F-4D97-AF65-F5344CB8AC3E}">
        <p14:creationId xmlns:p14="http://schemas.microsoft.com/office/powerpoint/2010/main" val="147148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E6EA83E-5583-4F36-AF61-7219DE4B65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A4AE09-B4B8-409A-9B25-3FE963EF2A4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RISK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61792-FE61-4A0D-998C-5AD22008509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Payment linkage turns many small signals into one actionable profile.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3FE72-D0B1-4EF9-B45F-BB7B7E994FC2}"/>
              </a:ext>
            </a:extLst>
          </p:cNvPr>
          <p:cNvSpPr>
            <a:spLocks noGrp="1"/>
          </p:cNvSpPr>
          <p:nvPr/>
        </p:nvSpPr>
        <p:spPr>
          <a:xfrm>
            <a:off x="11125200" y="6115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A8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63473-224A-4BB7-BE2D-C5263FCB6A5B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96500" cy="9525"/>
          </a:xfrm>
          <a:prstGeom prst="rect">
            <a:avLst/>
          </a:prstGeom>
          <a:solidFill>
            <a:srgbClr val="D8D2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BA290-C257-4076-BDB6-322F5A1D1757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6572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Illustrative profiling confidence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1FF70-CF4D-44FE-8575-64D2499D2670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657225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DC506-9345-4431-BFFB-13B6873E4C6B}"/>
              </a:ext>
            </a:extLst>
          </p:cNvPr>
          <p:cNvSpPr>
            <a:spLocks noGrp="1"/>
          </p:cNvSpPr>
          <p:nvPr/>
        </p:nvSpPr>
        <p:spPr>
          <a:xfrm>
            <a:off x="552450" y="496252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CFE26-0E5A-468F-8B31-3F988AC6B1AF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657225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4131CD-B7CA-4D46-83C6-7913B46148D7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819378-85E4-4346-838B-3BCE96E1949F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657225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9B246-B49C-4EEB-AFB0-600A53AA8A54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654572-E70B-40B0-BE47-722F0201F2CB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657225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46ACDC-B023-449E-85CA-53ECB0EB53AB}"/>
              </a:ext>
            </a:extLst>
          </p:cNvPr>
          <p:cNvSpPr>
            <a:spLocks noGrp="1"/>
          </p:cNvSpPr>
          <p:nvPr/>
        </p:nvSpPr>
        <p:spPr>
          <a:xfrm>
            <a:off x="552450" y="307657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F0169F-171E-4CC7-8B66-7426E86C2AC4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657225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13DFE-4142-46CB-96CE-6CFDB77F1FF8}"/>
              </a:ext>
            </a:extLst>
          </p:cNvPr>
          <p:cNvSpPr>
            <a:spLocks noGrp="1"/>
          </p:cNvSpPr>
          <p:nvPr/>
        </p:nvSpPr>
        <p:spPr>
          <a:xfrm>
            <a:off x="552450" y="244792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0FAEE-FE9C-4F3C-863A-619506D315F3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657225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A83579-0E1F-4AEC-9167-0B01B826801D}"/>
              </a:ext>
            </a:extLst>
          </p:cNvPr>
          <p:cNvSpPr>
            <a:spLocks noGrp="1"/>
          </p:cNvSpPr>
          <p:nvPr/>
        </p:nvSpPr>
        <p:spPr>
          <a:xfrm>
            <a:off x="552450" y="181927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91218B-C3BB-4872-829E-5984F56651BD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9525" cy="31432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758CD6-EEA8-4586-94C6-E69EDD31AED9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6572250" cy="9525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07D73D-DC7F-45C6-BF4E-6ED30D34BA21}"/>
              </a:ext>
            </a:extLst>
          </p:cNvPr>
          <p:cNvSpPr>
            <a:spLocks noGrp="1"/>
          </p:cNvSpPr>
          <p:nvPr/>
        </p:nvSpPr>
        <p:spPr>
          <a:xfrm>
            <a:off x="1457325" y="4526280"/>
            <a:ext cx="266700" cy="50292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4D7BE7-5E7B-46CE-A7BC-1633AB2BB4D6}"/>
              </a:ext>
            </a:extLst>
          </p:cNvPr>
          <p:cNvSpPr>
            <a:spLocks noGrp="1"/>
          </p:cNvSpPr>
          <p:nvPr/>
        </p:nvSpPr>
        <p:spPr>
          <a:xfrm>
            <a:off x="1419225" y="4335780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E35B7D-AD4D-4844-8502-E23E624BC936}"/>
              </a:ext>
            </a:extLst>
          </p:cNvPr>
          <p:cNvSpPr>
            <a:spLocks noGrp="1"/>
          </p:cNvSpPr>
          <p:nvPr/>
        </p:nvSpPr>
        <p:spPr>
          <a:xfrm>
            <a:off x="1819275" y="4683443"/>
            <a:ext cx="266700" cy="345758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DD7C20-0C14-49C6-B416-2E4AF5E8C9C1}"/>
              </a:ext>
            </a:extLst>
          </p:cNvPr>
          <p:cNvSpPr>
            <a:spLocks noGrp="1"/>
          </p:cNvSpPr>
          <p:nvPr/>
        </p:nvSpPr>
        <p:spPr>
          <a:xfrm>
            <a:off x="1781175" y="4492943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6742A1-2EDA-4F89-AE87-8789E1400F91}"/>
              </a:ext>
            </a:extLst>
          </p:cNvPr>
          <p:cNvSpPr>
            <a:spLocks noGrp="1"/>
          </p:cNvSpPr>
          <p:nvPr/>
        </p:nvSpPr>
        <p:spPr>
          <a:xfrm>
            <a:off x="2181225" y="4714875"/>
            <a:ext cx="266700" cy="3143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BD4A26-A605-4237-9501-72D6ACFFAE7A}"/>
              </a:ext>
            </a:extLst>
          </p:cNvPr>
          <p:cNvSpPr>
            <a:spLocks noGrp="1"/>
          </p:cNvSpPr>
          <p:nvPr/>
        </p:nvSpPr>
        <p:spPr>
          <a:xfrm>
            <a:off x="2143125" y="4524375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5B055E-C83A-449E-8FC6-95D083045C4A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n=4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860BCD-EE64-44A7-8A81-9C32E1CAB729}"/>
              </a:ext>
            </a:extLst>
          </p:cNvPr>
          <p:cNvSpPr>
            <a:spLocks noGrp="1"/>
          </p:cNvSpPr>
          <p:nvPr/>
        </p:nvSpPr>
        <p:spPr>
          <a:xfrm>
            <a:off x="3648075" y="3520440"/>
            <a:ext cx="266700" cy="150876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DD507C-40E6-4231-8B7F-1C8B3E17653C}"/>
              </a:ext>
            </a:extLst>
          </p:cNvPr>
          <p:cNvSpPr>
            <a:spLocks noGrp="1"/>
          </p:cNvSpPr>
          <p:nvPr/>
        </p:nvSpPr>
        <p:spPr>
          <a:xfrm>
            <a:off x="3609975" y="3329940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E322F9-C064-4DC9-8D34-203C4BFF66DD}"/>
              </a:ext>
            </a:extLst>
          </p:cNvPr>
          <p:cNvSpPr>
            <a:spLocks noGrp="1"/>
          </p:cNvSpPr>
          <p:nvPr/>
        </p:nvSpPr>
        <p:spPr>
          <a:xfrm>
            <a:off x="4010025" y="4211955"/>
            <a:ext cx="266700" cy="81724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05676A-D291-430A-9DDA-E8B001795DBC}"/>
              </a:ext>
            </a:extLst>
          </p:cNvPr>
          <p:cNvSpPr>
            <a:spLocks noGrp="1"/>
          </p:cNvSpPr>
          <p:nvPr/>
        </p:nvSpPr>
        <p:spPr>
          <a:xfrm>
            <a:off x="3971925" y="4021455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680793-7D25-4CC2-9BCE-B33986BD246F}"/>
              </a:ext>
            </a:extLst>
          </p:cNvPr>
          <p:cNvSpPr>
            <a:spLocks noGrp="1"/>
          </p:cNvSpPr>
          <p:nvPr/>
        </p:nvSpPr>
        <p:spPr>
          <a:xfrm>
            <a:off x="4371975" y="4369118"/>
            <a:ext cx="266700" cy="660083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B4F854-1353-47BA-A14E-51B440A56186}"/>
              </a:ext>
            </a:extLst>
          </p:cNvPr>
          <p:cNvSpPr>
            <a:spLocks noGrp="1"/>
          </p:cNvSpPr>
          <p:nvPr/>
        </p:nvSpPr>
        <p:spPr>
          <a:xfrm>
            <a:off x="4333875" y="4178618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B5D9D6-4DBE-4A62-BD95-45E72CD29891}"/>
              </a:ext>
            </a:extLst>
          </p:cNvPr>
          <p:cNvSpPr>
            <a:spLocks noGrp="1"/>
          </p:cNvSpPr>
          <p:nvPr/>
        </p:nvSpPr>
        <p:spPr>
          <a:xfrm>
            <a:off x="3067050" y="52006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n=8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012B20-0FAE-4345-95E3-962A72B52F92}"/>
              </a:ext>
            </a:extLst>
          </p:cNvPr>
          <p:cNvSpPr>
            <a:spLocks noGrp="1"/>
          </p:cNvSpPr>
          <p:nvPr/>
        </p:nvSpPr>
        <p:spPr>
          <a:xfrm>
            <a:off x="5838825" y="2011680"/>
            <a:ext cx="266700" cy="301752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2F4C1F-75E0-4591-BD7D-A7D0D4196049}"/>
              </a:ext>
            </a:extLst>
          </p:cNvPr>
          <p:cNvSpPr>
            <a:spLocks noGrp="1"/>
          </p:cNvSpPr>
          <p:nvPr/>
        </p:nvSpPr>
        <p:spPr>
          <a:xfrm>
            <a:off x="5800725" y="1821180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A24F3B-9F7A-4877-9DF7-C181D7AEA545}"/>
              </a:ext>
            </a:extLst>
          </p:cNvPr>
          <p:cNvSpPr>
            <a:spLocks noGrp="1"/>
          </p:cNvSpPr>
          <p:nvPr/>
        </p:nvSpPr>
        <p:spPr>
          <a:xfrm>
            <a:off x="6200775" y="3677603"/>
            <a:ext cx="266700" cy="1351598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D74CDF-17E4-4492-BBDA-8DA41F4F3AE5}"/>
              </a:ext>
            </a:extLst>
          </p:cNvPr>
          <p:cNvSpPr>
            <a:spLocks noGrp="1"/>
          </p:cNvSpPr>
          <p:nvPr/>
        </p:nvSpPr>
        <p:spPr>
          <a:xfrm>
            <a:off x="6162675" y="3487103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C96A46-5C63-4527-827C-E04504239792}"/>
              </a:ext>
            </a:extLst>
          </p:cNvPr>
          <p:cNvSpPr>
            <a:spLocks noGrp="1"/>
          </p:cNvSpPr>
          <p:nvPr/>
        </p:nvSpPr>
        <p:spPr>
          <a:xfrm>
            <a:off x="6562725" y="3991928"/>
            <a:ext cx="266700" cy="1037273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C3E6566-D6E5-4D21-8C6D-603174B337FB}"/>
              </a:ext>
            </a:extLst>
          </p:cNvPr>
          <p:cNvSpPr>
            <a:spLocks noGrp="1"/>
          </p:cNvSpPr>
          <p:nvPr/>
        </p:nvSpPr>
        <p:spPr>
          <a:xfrm>
            <a:off x="6524625" y="3801428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4B5D65-A25B-400C-A3C8-6FED7F370F56}"/>
              </a:ext>
            </a:extLst>
          </p:cNvPr>
          <p:cNvSpPr>
            <a:spLocks noGrp="1"/>
          </p:cNvSpPr>
          <p:nvPr/>
        </p:nvSpPr>
        <p:spPr>
          <a:xfrm>
            <a:off x="5257800" y="52006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n=12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9755B2-E410-4694-B2E2-4AAA9C647E53}"/>
              </a:ext>
            </a:extLst>
          </p:cNvPr>
          <p:cNvSpPr>
            <a:spLocks noGrp="1"/>
          </p:cNvSpPr>
          <p:nvPr/>
        </p:nvSpPr>
        <p:spPr>
          <a:xfrm>
            <a:off x="876300" y="2828925"/>
            <a:ext cx="6572250" cy="1905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D13F1C-2536-4BFD-B794-935A252358C0}"/>
              </a:ext>
            </a:extLst>
          </p:cNvPr>
          <p:cNvSpPr>
            <a:spLocks noGrp="1"/>
          </p:cNvSpPr>
          <p:nvPr/>
        </p:nvSpPr>
        <p:spPr>
          <a:xfrm>
            <a:off x="971550" y="2638425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actionable threshold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21F720-70A9-4D0E-9701-68EBA73B7096}"/>
              </a:ext>
            </a:extLst>
          </p:cNvPr>
          <p:cNvSpPr>
            <a:spLocks noGrp="1"/>
          </p:cNvSpPr>
          <p:nvPr/>
        </p:nvSpPr>
        <p:spPr>
          <a:xfrm>
            <a:off x="3476625" y="54292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paid agent interactions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5E6D65-848A-413B-B632-3E36DD3E62AD}"/>
              </a:ext>
            </a:extLst>
          </p:cNvPr>
          <p:cNvSpPr>
            <a:spLocks noGrp="1"/>
          </p:cNvSpPr>
          <p:nvPr/>
        </p:nvSpPr>
        <p:spPr>
          <a:xfrm>
            <a:off x="5448300" y="2190750"/>
            <a:ext cx="133350" cy="1333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BDDB0B-B265-43E9-8BE7-466FB431840A}"/>
              </a:ext>
            </a:extLst>
          </p:cNvPr>
          <p:cNvSpPr>
            <a:spLocks noGrp="1"/>
          </p:cNvSpPr>
          <p:nvPr/>
        </p:nvSpPr>
        <p:spPr>
          <a:xfrm>
            <a:off x="5657850" y="2181225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payment anchor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46A0D2-8A8A-421D-85F7-CBBF0A5250B7}"/>
              </a:ext>
            </a:extLst>
          </p:cNvPr>
          <p:cNvSpPr>
            <a:spLocks noGrp="1"/>
          </p:cNvSpPr>
          <p:nvPr/>
        </p:nvSpPr>
        <p:spPr>
          <a:xfrm>
            <a:off x="5448300" y="2419350"/>
            <a:ext cx="133350" cy="1333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B0E763-A15B-49D7-B275-870B2CBA17A6}"/>
              </a:ext>
            </a:extLst>
          </p:cNvPr>
          <p:cNvSpPr>
            <a:spLocks noGrp="1"/>
          </p:cNvSpPr>
          <p:nvPr/>
        </p:nvSpPr>
        <p:spPr>
          <a:xfrm>
            <a:off x="5657850" y="2409825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privacy adapter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8C63FC-CD28-42C9-8B3D-C98A2BDF96F3}"/>
              </a:ext>
            </a:extLst>
          </p:cNvPr>
          <p:cNvSpPr>
            <a:spLocks noGrp="1"/>
          </p:cNvSpPr>
          <p:nvPr/>
        </p:nvSpPr>
        <p:spPr>
          <a:xfrm>
            <a:off x="5448300" y="2647950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801D68-DBA6-4122-9CEF-931312CF105E}"/>
              </a:ext>
            </a:extLst>
          </p:cNvPr>
          <p:cNvSpPr>
            <a:spLocks noGrp="1"/>
          </p:cNvSpPr>
          <p:nvPr/>
        </p:nvSpPr>
        <p:spPr>
          <a:xfrm>
            <a:off x="5657850" y="2638425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fragmented content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802604-B10A-4948-A1B0-E2CE81E44747}"/>
              </a:ext>
            </a:extLst>
          </p:cNvPr>
          <p:cNvSpPr>
            <a:spLocks noGrp="1"/>
          </p:cNvSpPr>
          <p:nvPr/>
        </p:nvSpPr>
        <p:spPr>
          <a:xfrm>
            <a:off x="8001000" y="2000250"/>
            <a:ext cx="2857500" cy="16192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4D9F7E-976D-4B38-8A66-1C20E8574691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Reference formula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52FD3F-197B-4313-9781-6AA89615EDE9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2333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Risk(n) ~= s*n + alpha*L*n(n-1)/2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8CFE63-AE9F-4325-8AAD-23CBE07AF50F}"/>
              </a:ext>
            </a:extLst>
          </p:cNvPr>
          <p:cNvSpPr>
            <a:spLocks noGrp="1"/>
          </p:cNvSpPr>
          <p:nvPr/>
        </p:nvSpPr>
        <p:spPr>
          <a:xfrm>
            <a:off x="8210550" y="314325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 = linkage strength</a:t>
            </a:r>
          </a:p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n(n-1)/2 = pairwise joins</a:t>
            </a:r>
          </a:p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Privacy lowers L, not every signal.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2F51B53-977E-4C9B-B931-F5CEDD1B091D}"/>
              </a:ext>
            </a:extLst>
          </p:cNvPr>
          <p:cNvSpPr>
            <a:spLocks noGrp="1"/>
          </p:cNvSpPr>
          <p:nvPr/>
        </p:nvSpPr>
        <p:spPr>
          <a:xfrm>
            <a:off x="8001000" y="3981450"/>
            <a:ext cx="2857500" cy="118110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BAF58F-E617-4A45-BE83-B15F111433C1}"/>
              </a:ext>
            </a:extLst>
          </p:cNvPr>
          <p:cNvSpPr>
            <a:spLocks noGrp="1"/>
          </p:cNvSpPr>
          <p:nvPr/>
        </p:nvSpPr>
        <p:spPr>
          <a:xfrm>
            <a:off x="8210550" y="41719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Design claim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7306A0-EA38-47BE-A801-1EF912D65865}"/>
              </a:ext>
            </a:extLst>
          </p:cNvPr>
          <p:cNvSpPr>
            <a:spLocks noGrp="1"/>
          </p:cNvSpPr>
          <p:nvPr/>
        </p:nvSpPr>
        <p:spPr>
          <a:xfrm>
            <a:off x="8210550" y="4438650"/>
            <a:ext cx="2266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 do not promise total anonymity. We reduce the stable join key that compounds repeated paid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52383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86D4477-151A-40D9-B7A5-1141F206F2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B16B49-126D-44FF-B79D-316A6F2794E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VALIDATED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C5EA5-BF55-475F-8928-9C30DB65EDA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live path buys CMC and Exa research through private x402 on Base.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D3926-F49C-4FF7-955C-BFB7599BA5C1}"/>
              </a:ext>
            </a:extLst>
          </p:cNvPr>
          <p:cNvSpPr>
            <a:spLocks noGrp="1"/>
          </p:cNvSpPr>
          <p:nvPr/>
        </p:nvSpPr>
        <p:spPr>
          <a:xfrm>
            <a:off x="11125200" y="6115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A8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21FB8-6CEB-4F3F-9933-B812AC5CCDBF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96500" cy="9525"/>
          </a:xfrm>
          <a:prstGeom prst="rect">
            <a:avLst/>
          </a:prstGeom>
          <a:solidFill>
            <a:srgbClr val="D8D2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A2154A-E689-44B7-B1E6-1A9351CDE24D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7526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7EDC5-6551-4E2A-9B01-6F1D63DF3855}"/>
              </a:ext>
            </a:extLst>
          </p:cNvPr>
          <p:cNvSpPr>
            <a:spLocks noGrp="1"/>
          </p:cNvSpPr>
          <p:nvPr/>
        </p:nvSpPr>
        <p:spPr>
          <a:xfrm>
            <a:off x="971550" y="2619375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Disposable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wallet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7AFDA93-B592-4D4C-A17D-62340A5E62D4}"/>
              </a:ext>
            </a:extLst>
          </p:cNvPr>
          <p:cNvSpPr>
            <a:spLocks noGrp="1"/>
          </p:cNvSpPr>
          <p:nvPr/>
        </p:nvSpPr>
        <p:spPr>
          <a:xfrm>
            <a:off x="2647950" y="2838450"/>
            <a:ext cx="1333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21814-0DE3-4B7D-94F3-1ED136CA3A43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1752600" cy="914400"/>
          </a:xfrm>
          <a:prstGeom prst="rect">
            <a:avLst/>
          </a:prstGeom>
          <a:solidFill>
            <a:srgbClr val="DCFCE7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3DCBD9-6E00-4529-BBD7-35D0D193A443}"/>
              </a:ext>
            </a:extLst>
          </p:cNvPr>
          <p:cNvSpPr>
            <a:spLocks noGrp="1"/>
          </p:cNvSpPr>
          <p:nvPr/>
        </p:nvSpPr>
        <p:spPr>
          <a:xfrm>
            <a:off x="3009900" y="2619375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px402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private note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B436AC1-9C4E-4BDB-84F0-13CC8FE846BB}"/>
              </a:ext>
            </a:extLst>
          </p:cNvPr>
          <p:cNvSpPr>
            <a:spLocks noGrp="1"/>
          </p:cNvSpPr>
          <p:nvPr/>
        </p:nvSpPr>
        <p:spPr>
          <a:xfrm>
            <a:off x="4686300" y="2838450"/>
            <a:ext cx="1333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D23C93-6B0B-43A6-9C35-75C38ADC2D28}"/>
              </a:ext>
            </a:extLst>
          </p:cNvPr>
          <p:cNvSpPr>
            <a:spLocks noGrp="1"/>
          </p:cNvSpPr>
          <p:nvPr/>
        </p:nvSpPr>
        <p:spPr>
          <a:xfrm>
            <a:off x="4895850" y="2381250"/>
            <a:ext cx="1752600" cy="914400"/>
          </a:xfrm>
          <a:prstGeom prst="rect">
            <a:avLst/>
          </a:prstGeom>
          <a:solidFill>
            <a:srgbClr val="FFF7ED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B2A8AE-80F3-4869-9692-ACC2BC73729F}"/>
              </a:ext>
            </a:extLst>
          </p:cNvPr>
          <p:cNvSpPr>
            <a:spLocks noGrp="1"/>
          </p:cNvSpPr>
          <p:nvPr/>
        </p:nvSpPr>
        <p:spPr>
          <a:xfrm>
            <a:off x="5048250" y="2619375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CMC market data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0.01 USDC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4538352-B7B3-4F2F-AA50-F7BCF95371E8}"/>
              </a:ext>
            </a:extLst>
          </p:cNvPr>
          <p:cNvSpPr>
            <a:spLocks noGrp="1"/>
          </p:cNvSpPr>
          <p:nvPr/>
        </p:nvSpPr>
        <p:spPr>
          <a:xfrm>
            <a:off x="6724650" y="2838450"/>
            <a:ext cx="1333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1E9580-5F03-4C66-A89A-6B82CA17B868}"/>
              </a:ext>
            </a:extLst>
          </p:cNvPr>
          <p:cNvSpPr>
            <a:spLocks noGrp="1"/>
          </p:cNvSpPr>
          <p:nvPr/>
        </p:nvSpPr>
        <p:spPr>
          <a:xfrm>
            <a:off x="6934200" y="2381250"/>
            <a:ext cx="1752600" cy="914400"/>
          </a:xfrm>
          <a:prstGeom prst="rect">
            <a:avLst/>
          </a:prstGeom>
          <a:solidFill>
            <a:srgbClr val="FFF7ED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EECC5-11A4-448D-89BC-A16D7637B049}"/>
              </a:ext>
            </a:extLst>
          </p:cNvPr>
          <p:cNvSpPr>
            <a:spLocks noGrp="1"/>
          </p:cNvSpPr>
          <p:nvPr/>
        </p:nvSpPr>
        <p:spPr>
          <a:xfrm>
            <a:off x="7086600" y="2619375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Exa search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0.007 USDC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A04054F-588B-4A81-83C3-91EC8B57C796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1333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B193F5-1AF0-4C1C-B68F-2D1976173B24}"/>
              </a:ext>
            </a:extLst>
          </p:cNvPr>
          <p:cNvSpPr>
            <a:spLocks noGrp="1"/>
          </p:cNvSpPr>
          <p:nvPr/>
        </p:nvSpPr>
        <p:spPr>
          <a:xfrm>
            <a:off x="8972550" y="2381250"/>
            <a:ext cx="1752600" cy="9144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B47B9-7803-489F-9E9B-926B42C3B431}"/>
              </a:ext>
            </a:extLst>
          </p:cNvPr>
          <p:cNvSpPr>
            <a:spLocks noGrp="1"/>
          </p:cNvSpPr>
          <p:nvPr/>
        </p:nvSpPr>
        <p:spPr>
          <a:xfrm>
            <a:off x="9124950" y="2619375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market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signal JSON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C3597B-D2D9-44C1-AB15-304584D43D24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0.017 USDC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130078-FDE1-434C-9052-D5C63EEEB197}"/>
              </a:ext>
            </a:extLst>
          </p:cNvPr>
          <p:cNvSpPr>
            <a:spLocks noGrp="1"/>
          </p:cNvSpPr>
          <p:nvPr/>
        </p:nvSpPr>
        <p:spPr>
          <a:xfrm>
            <a:off x="952500" y="44577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combined provider cost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F33046-6A85-417A-B40C-1F44825A18CE}"/>
              </a:ext>
            </a:extLst>
          </p:cNvPr>
          <p:cNvSpPr>
            <a:spLocks noGrp="1"/>
          </p:cNvSpPr>
          <p:nvPr/>
        </p:nvSpPr>
        <p:spPr>
          <a:xfrm>
            <a:off x="3657600" y="40957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Base mainnet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FA9F9A-12E4-43D3-A743-FFE1CF0D03BA}"/>
              </a:ext>
            </a:extLst>
          </p:cNvPr>
          <p:cNvSpPr>
            <a:spLocks noGrp="1"/>
          </p:cNvSpPr>
          <p:nvPr/>
        </p:nvSpPr>
        <p:spPr>
          <a:xfrm>
            <a:off x="3657600" y="44577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validated network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E1369C-F2C6-4C44-9E22-E62A39478E48}"/>
              </a:ext>
            </a:extLst>
          </p:cNvPr>
          <p:cNvSpPr>
            <a:spLocks noGrp="1"/>
          </p:cNvSpPr>
          <p:nvPr/>
        </p:nvSpPr>
        <p:spPr>
          <a:xfrm>
            <a:off x="6362700" y="409575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receipts + hashes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5C149A-4E66-4BEF-8358-5A16ABC2F9CB}"/>
              </a:ext>
            </a:extLst>
          </p:cNvPr>
          <p:cNvSpPr>
            <a:spLocks noGrp="1"/>
          </p:cNvSpPr>
          <p:nvPr/>
        </p:nvSpPr>
        <p:spPr>
          <a:xfrm>
            <a:off x="6362700" y="445770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outputs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DB9B02-36F3-4D01-B74C-7287A7830CC5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Proof object: a working CMC + Exa paid-research loop, not a mock marketplace.</a:t>
            </a:r>
          </a:p>
        </p:txBody>
      </p:sp>
    </p:spTree>
    <p:extLst>
      <p:ext uri="{BB962C8B-B14F-4D97-AF65-F5344CB8AC3E}">
        <p14:creationId xmlns:p14="http://schemas.microsoft.com/office/powerpoint/2010/main" val="138908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9CDE4C2-4819-489F-BF41-919A809D8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89A732-533C-49A7-BACB-F6FCB14DE1B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ADAPTER BOUNDARY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A6490-FF91-4417-A42C-28402E0BC87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product is a payment privacy and evidence layer, not another marketplace.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B01FC-B732-4CD6-8961-2E9E87D3CA5E}"/>
              </a:ext>
            </a:extLst>
          </p:cNvPr>
          <p:cNvSpPr>
            <a:spLocks noGrp="1"/>
          </p:cNvSpPr>
          <p:nvPr/>
        </p:nvSpPr>
        <p:spPr>
          <a:xfrm>
            <a:off x="11125200" y="6115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A8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1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D2BE4-D558-4EFD-A214-D0691757092C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96500" cy="9525"/>
          </a:xfrm>
          <a:prstGeom prst="rect">
            <a:avLst/>
          </a:prstGeom>
          <a:solidFill>
            <a:srgbClr val="D8D2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78A4B-A7F6-4B8C-8880-84BED8522230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9525000" cy="1066800"/>
          </a:xfrm>
          <a:prstGeom prst="rect">
            <a:avLst/>
          </a:prstGeom>
          <a:solidFill>
            <a:srgbClr val="F8FAFC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FB53B-41C8-41A9-A72E-E7C404B94A4C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65980F-7C9F-4827-8F49-ECE588783A31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9525000" cy="1066800"/>
          </a:xfrm>
          <a:prstGeom prst="rect">
            <a:avLst/>
          </a:prstGeom>
          <a:solidFill>
            <a:srgbClr val="FFF7ED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4EB45-599D-468E-AA9A-F45B744991AA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x402 service delivery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A95EE4-F1AE-4FAF-BB61-2EAF8C3A747D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9525000" cy="1066800"/>
          </a:xfrm>
          <a:prstGeom prst="rect">
            <a:avLst/>
          </a:prstGeom>
          <a:solidFill>
            <a:srgbClr val="DCFCE7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86BC7-6F10-4F60-BDAF-862D76690925}"/>
              </a:ext>
            </a:extLst>
          </p:cNvPr>
          <p:cNvSpPr>
            <a:spLocks noGrp="1"/>
          </p:cNvSpPr>
          <p:nvPr/>
        </p:nvSpPr>
        <p:spPr>
          <a:xfrm>
            <a:off x="990600" y="47244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Privacy payment adapter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15822D-02BF-4C0F-B1C8-A9C4D0CAEC03}"/>
              </a:ext>
            </a:extLst>
          </p:cNvPr>
          <p:cNvSpPr>
            <a:spLocks noGrp="1"/>
          </p:cNvSpPr>
          <p:nvPr/>
        </p:nvSpPr>
        <p:spPr>
          <a:xfrm>
            <a:off x="3238500" y="201930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6D459-CEDF-4CC2-BE7E-73270A284B4C}"/>
              </a:ext>
            </a:extLst>
          </p:cNvPr>
          <p:cNvSpPr>
            <a:spLocks noGrp="1"/>
          </p:cNvSpPr>
          <p:nvPr/>
        </p:nvSpPr>
        <p:spPr>
          <a:xfrm>
            <a:off x="3352800" y="215265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decides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6AE103-54C3-4D78-901A-F30AE8553264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5980A0-1650-4A16-87D7-39716DD4C9DC}"/>
              </a:ext>
            </a:extLst>
          </p:cNvPr>
          <p:cNvSpPr>
            <a:spLocks noGrp="1"/>
          </p:cNvSpPr>
          <p:nvPr/>
        </p:nvSpPr>
        <p:spPr>
          <a:xfrm>
            <a:off x="5448300" y="215265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policy check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C8969-4234-4887-A5A2-7448A9B0C53D}"/>
              </a:ext>
            </a:extLst>
          </p:cNvPr>
          <p:cNvSpPr>
            <a:spLocks noGrp="1"/>
          </p:cNvSpPr>
          <p:nvPr/>
        </p:nvSpPr>
        <p:spPr>
          <a:xfrm>
            <a:off x="7429500" y="201930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5F12AC-B020-45A5-BDB9-4E403A760AA4}"/>
              </a:ext>
            </a:extLst>
          </p:cNvPr>
          <p:cNvSpPr>
            <a:spLocks noGrp="1"/>
          </p:cNvSpPr>
          <p:nvPr/>
        </p:nvSpPr>
        <p:spPr>
          <a:xfrm>
            <a:off x="7543800" y="215265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receipt log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A0ED8C-D681-4C37-B91F-6F69F7B504AB}"/>
              </a:ext>
            </a:extLst>
          </p:cNvPr>
          <p:cNvSpPr>
            <a:spLocks noGrp="1"/>
          </p:cNvSpPr>
          <p:nvPr/>
        </p:nvSpPr>
        <p:spPr>
          <a:xfrm>
            <a:off x="3238500" y="354330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6A0F5D-943B-44C0-91C8-A927740A6381}"/>
              </a:ext>
            </a:extLst>
          </p:cNvPr>
          <p:cNvSpPr>
            <a:spLocks noGrp="1"/>
          </p:cNvSpPr>
          <p:nvPr/>
        </p:nvSpPr>
        <p:spPr>
          <a:xfrm>
            <a:off x="3352800" y="367665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402 quote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CC944E-F642-4CB6-A247-A61B2CDD7EEF}"/>
              </a:ext>
            </a:extLst>
          </p:cNvPr>
          <p:cNvSpPr>
            <a:spLocks noGrp="1"/>
          </p:cNvSpPr>
          <p:nvPr/>
        </p:nvSpPr>
        <p:spPr>
          <a:xfrm>
            <a:off x="5334000" y="354330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AF57F-552C-414A-ACF2-043393489430}"/>
              </a:ext>
            </a:extLst>
          </p:cNvPr>
          <p:cNvSpPr>
            <a:spLocks noGrp="1"/>
          </p:cNvSpPr>
          <p:nvPr/>
        </p:nvSpPr>
        <p:spPr>
          <a:xfrm>
            <a:off x="5448300" y="367665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payment proof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B2C86D-494E-4B3C-8A0F-5E52E4D718B5}"/>
              </a:ext>
            </a:extLst>
          </p:cNvPr>
          <p:cNvSpPr>
            <a:spLocks noGrp="1"/>
          </p:cNvSpPr>
          <p:nvPr/>
        </p:nvSpPr>
        <p:spPr>
          <a:xfrm>
            <a:off x="7429500" y="354330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68A968-3638-4BDE-B817-577FE8651688}"/>
              </a:ext>
            </a:extLst>
          </p:cNvPr>
          <p:cNvSpPr>
            <a:spLocks noGrp="1"/>
          </p:cNvSpPr>
          <p:nvPr/>
        </p:nvSpPr>
        <p:spPr>
          <a:xfrm>
            <a:off x="7543800" y="367665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paid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B3145A-650C-40CB-BB99-D122DC0C17E7}"/>
              </a:ext>
            </a:extLst>
          </p:cNvPr>
          <p:cNvSpPr>
            <a:spLocks noGrp="1"/>
          </p:cNvSpPr>
          <p:nvPr/>
        </p:nvSpPr>
        <p:spPr>
          <a:xfrm>
            <a:off x="3238500" y="478155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5DDB1E-94CE-45EE-BBCA-8CBEFBD235BB}"/>
              </a:ext>
            </a:extLst>
          </p:cNvPr>
          <p:cNvSpPr>
            <a:spLocks noGrp="1"/>
          </p:cNvSpPr>
          <p:nvPr/>
        </p:nvSpPr>
        <p:spPr>
          <a:xfrm>
            <a:off x="3352800" y="491490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private note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0361A5-9000-4F50-814F-1BB74099C452}"/>
              </a:ext>
            </a:extLst>
          </p:cNvPr>
          <p:cNvSpPr>
            <a:spLocks noGrp="1"/>
          </p:cNvSpPr>
          <p:nvPr/>
        </p:nvSpPr>
        <p:spPr>
          <a:xfrm>
            <a:off x="5334000" y="478155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6A474F-E1B5-4B54-9430-64900F1B514A}"/>
              </a:ext>
            </a:extLst>
          </p:cNvPr>
          <p:cNvSpPr>
            <a:spLocks noGrp="1"/>
          </p:cNvSpPr>
          <p:nvPr/>
        </p:nvSpPr>
        <p:spPr>
          <a:xfrm>
            <a:off x="5448300" y="491490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burner payer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33438D-58C7-413D-8304-8F852E9679B6}"/>
              </a:ext>
            </a:extLst>
          </p:cNvPr>
          <p:cNvSpPr>
            <a:spLocks noGrp="1"/>
          </p:cNvSpPr>
          <p:nvPr/>
        </p:nvSpPr>
        <p:spPr>
          <a:xfrm>
            <a:off x="7429500" y="4781550"/>
            <a:ext cx="1428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FDB518-EC78-4791-9E9F-018F83E138F4}"/>
              </a:ext>
            </a:extLst>
          </p:cNvPr>
          <p:cNvSpPr>
            <a:spLocks noGrp="1"/>
          </p:cNvSpPr>
          <p:nvPr/>
        </p:nvSpPr>
        <p:spPr>
          <a:xfrm>
            <a:off x="7543800" y="4914900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weaker linkage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D36B070-29BA-4E6F-839E-B46A724C8D93}"/>
              </a:ext>
            </a:extLst>
          </p:cNvPr>
          <p:cNvSpPr>
            <a:spLocks noGrp="1"/>
          </p:cNvSpPr>
          <p:nvPr/>
        </p:nvSpPr>
        <p:spPr>
          <a:xfrm>
            <a:off x="4667250" y="2228850"/>
            <a:ext cx="6667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2A19BD4B-E12C-4EAD-B2D4-69DA522AB3D3}"/>
              </a:ext>
            </a:extLst>
          </p:cNvPr>
          <p:cNvSpPr>
            <a:spLocks noGrp="1"/>
          </p:cNvSpPr>
          <p:nvPr/>
        </p:nvSpPr>
        <p:spPr>
          <a:xfrm>
            <a:off x="6762750" y="2228850"/>
            <a:ext cx="6667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19F87E3F-4CB4-4327-A79A-0830F9A81017}"/>
              </a:ext>
            </a:extLst>
          </p:cNvPr>
          <p:cNvSpPr>
            <a:spLocks noGrp="1"/>
          </p:cNvSpPr>
          <p:nvPr/>
        </p:nvSpPr>
        <p:spPr>
          <a:xfrm>
            <a:off x="4667250" y="3752850"/>
            <a:ext cx="6667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004B3305-281E-499A-B746-F53A62631518}"/>
              </a:ext>
            </a:extLst>
          </p:cNvPr>
          <p:cNvSpPr>
            <a:spLocks noGrp="1"/>
          </p:cNvSpPr>
          <p:nvPr/>
        </p:nvSpPr>
        <p:spPr>
          <a:xfrm>
            <a:off x="6762750" y="3752850"/>
            <a:ext cx="6667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F04FEE71-7A62-48CD-98AA-01B97F51E906}"/>
              </a:ext>
            </a:extLst>
          </p:cNvPr>
          <p:cNvSpPr>
            <a:spLocks noGrp="1"/>
          </p:cNvSpPr>
          <p:nvPr/>
        </p:nvSpPr>
        <p:spPr>
          <a:xfrm>
            <a:off x="4667250" y="4991100"/>
            <a:ext cx="6667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5043611F-4421-4919-AE50-B6A1017D8CC9}"/>
              </a:ext>
            </a:extLst>
          </p:cNvPr>
          <p:cNvSpPr>
            <a:spLocks noGrp="1"/>
          </p:cNvSpPr>
          <p:nvPr/>
        </p:nvSpPr>
        <p:spPr>
          <a:xfrm>
            <a:off x="6762750" y="4991100"/>
            <a:ext cx="666750" cy="9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77E411B9-37EF-4602-97C9-50E907157432}"/>
              </a:ext>
            </a:extLst>
          </p:cNvPr>
          <p:cNvSpPr>
            <a:spLocks noGrp="1"/>
          </p:cNvSpPr>
          <p:nvPr/>
        </p:nvSpPr>
        <p:spPr>
          <a:xfrm>
            <a:off x="6048375" y="2438400"/>
            <a:ext cx="9525" cy="11049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DCA805FE-EB91-475D-9A59-984AB5D85EE5}"/>
              </a:ext>
            </a:extLst>
          </p:cNvPr>
          <p:cNvSpPr>
            <a:spLocks noGrp="1"/>
          </p:cNvSpPr>
          <p:nvPr/>
        </p:nvSpPr>
        <p:spPr>
          <a:xfrm>
            <a:off x="6048375" y="3962400"/>
            <a:ext cx="9525" cy="8191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882E9A-89E6-4364-9FBC-B1751FBDAC86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Boundary: x402 remains the access protocol; privacy rails are replaceable backends.</a:t>
            </a:r>
          </a:p>
        </p:txBody>
      </p:sp>
    </p:spTree>
    <p:extLst>
      <p:ext uri="{BB962C8B-B14F-4D97-AF65-F5344CB8AC3E}">
        <p14:creationId xmlns:p14="http://schemas.microsoft.com/office/powerpoint/2010/main" val="186400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2D34FA85-B19F-4C6C-AB44-31C6DB007D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2399D-6498-48F3-8094-ED42C97B667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MARKET UNLOCK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7D02C-C885-4C21-8115-9C3799DB8C3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Privacy lifts both high-frequency usage and high-value transaction volume.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DA827-40C7-4CF8-B9C5-A309BB0DBA47}"/>
              </a:ext>
            </a:extLst>
          </p:cNvPr>
          <p:cNvSpPr>
            <a:spLocks noGrp="1"/>
          </p:cNvSpPr>
          <p:nvPr/>
        </p:nvSpPr>
        <p:spPr>
          <a:xfrm>
            <a:off x="11125200" y="6115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A8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1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1233FB-2226-4EAF-908C-E9923978ECA8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96500" cy="9525"/>
          </a:xfrm>
          <a:prstGeom prst="rect">
            <a:avLst/>
          </a:prstGeom>
          <a:solidFill>
            <a:srgbClr val="D8D2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AE285-F7F7-44B8-9C11-9680294401B1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Activity index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C383F-F820-455B-81C5-EDDBCD32501E}"/>
              </a:ext>
            </a:extLst>
          </p:cNvPr>
          <p:cNvSpPr>
            <a:spLocks noGrp="1"/>
          </p:cNvSpPr>
          <p:nvPr/>
        </p:nvSpPr>
        <p:spPr>
          <a:xfrm rot="16200000">
            <a:off x="-400050" y="333718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Monthly activity index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27BDC5-B3C3-4DB6-B35D-6D4A5BA3CA7D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80A6D5-8C68-4394-B3D4-1F2CC50E2B36}"/>
              </a:ext>
            </a:extLst>
          </p:cNvPr>
          <p:cNvSpPr>
            <a:spLocks noGrp="1"/>
          </p:cNvSpPr>
          <p:nvPr/>
        </p:nvSpPr>
        <p:spPr>
          <a:xfrm>
            <a:off x="381000" y="479107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B83EDF-79A4-482A-AE4E-4A0F7B6D2070}"/>
              </a:ext>
            </a:extLst>
          </p:cNvPr>
          <p:cNvSpPr>
            <a:spLocks noGrp="1"/>
          </p:cNvSpPr>
          <p:nvPr/>
        </p:nvSpPr>
        <p:spPr>
          <a:xfrm>
            <a:off x="723900" y="4167188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79F623-50A9-427E-8516-94189A16FDAF}"/>
              </a:ext>
            </a:extLst>
          </p:cNvPr>
          <p:cNvSpPr>
            <a:spLocks noGrp="1"/>
          </p:cNvSpPr>
          <p:nvPr/>
        </p:nvSpPr>
        <p:spPr>
          <a:xfrm>
            <a:off x="381000" y="4100513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555859-721E-4553-9F67-C1E38D4A9723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9759B-51FA-4F20-8316-71AA7DD6A87E}"/>
              </a:ext>
            </a:extLst>
          </p:cNvPr>
          <p:cNvSpPr>
            <a:spLocks noGrp="1"/>
          </p:cNvSpPr>
          <p:nvPr/>
        </p:nvSpPr>
        <p:spPr>
          <a:xfrm>
            <a:off x="381000" y="34099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03EF06-573C-4A71-8F76-6AF0CA7F10E3}"/>
              </a:ext>
            </a:extLst>
          </p:cNvPr>
          <p:cNvSpPr>
            <a:spLocks noGrp="1"/>
          </p:cNvSpPr>
          <p:nvPr/>
        </p:nvSpPr>
        <p:spPr>
          <a:xfrm>
            <a:off x="723900" y="2786063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FF4797-DDEE-4FFF-97D4-10BD3024A4F1}"/>
              </a:ext>
            </a:extLst>
          </p:cNvPr>
          <p:cNvSpPr>
            <a:spLocks noGrp="1"/>
          </p:cNvSpPr>
          <p:nvPr/>
        </p:nvSpPr>
        <p:spPr>
          <a:xfrm>
            <a:off x="381000" y="2719388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F5332-1DD1-4C1C-8D25-6D61C175A930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78319F-14AD-461A-8DEE-C4886660485B}"/>
              </a:ext>
            </a:extLst>
          </p:cNvPr>
          <p:cNvSpPr>
            <a:spLocks noGrp="1"/>
          </p:cNvSpPr>
          <p:nvPr/>
        </p:nvSpPr>
        <p:spPr>
          <a:xfrm>
            <a:off x="381000" y="202882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1CAEE1-305F-4517-8726-EF7DCB002F5D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9525" cy="27622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F945-6290-4A68-8801-ECB1A5AFF978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4762500" cy="9525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9D7A3B-57AA-4D1D-B47F-BF946350FED5}"/>
              </a:ext>
            </a:extLst>
          </p:cNvPr>
          <p:cNvSpPr>
            <a:spLocks noGrp="1"/>
          </p:cNvSpPr>
          <p:nvPr/>
        </p:nvSpPr>
        <p:spPr>
          <a:xfrm>
            <a:off x="1089025" y="3246438"/>
            <a:ext cx="361950" cy="1611313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E7A0A-03E7-45F2-9A57-207D97DD7BD6}"/>
              </a:ext>
            </a:extLst>
          </p:cNvPr>
          <p:cNvSpPr>
            <a:spLocks noGrp="1"/>
          </p:cNvSpPr>
          <p:nvPr/>
        </p:nvSpPr>
        <p:spPr>
          <a:xfrm>
            <a:off x="1050925" y="3036888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18B70C-1726-47E6-80F9-55BE479A3FC3}"/>
              </a:ext>
            </a:extLst>
          </p:cNvPr>
          <p:cNvSpPr>
            <a:spLocks noGrp="1"/>
          </p:cNvSpPr>
          <p:nvPr/>
        </p:nvSpPr>
        <p:spPr>
          <a:xfrm>
            <a:off x="1565275" y="2740025"/>
            <a:ext cx="361950" cy="21177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C48C55-7FAB-4977-B4DD-709957FEC2DB}"/>
              </a:ext>
            </a:extLst>
          </p:cNvPr>
          <p:cNvSpPr>
            <a:spLocks noGrp="1"/>
          </p:cNvSpPr>
          <p:nvPr/>
        </p:nvSpPr>
        <p:spPr>
          <a:xfrm>
            <a:off x="1527175" y="2530475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FEEDB0-2195-4970-84B5-6F8F7810AB4E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147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Micro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336BEA-6A81-4E9F-8C7F-AE0B471B9C62}"/>
              </a:ext>
            </a:extLst>
          </p:cNvPr>
          <p:cNvSpPr>
            <a:spLocks noGrp="1"/>
          </p:cNvSpPr>
          <p:nvPr/>
        </p:nvSpPr>
        <p:spPr>
          <a:xfrm>
            <a:off x="2676525" y="3983038"/>
            <a:ext cx="361950" cy="874713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62AF09-0D1D-4839-AFC3-5F55D8470662}"/>
              </a:ext>
            </a:extLst>
          </p:cNvPr>
          <p:cNvSpPr>
            <a:spLocks noGrp="1"/>
          </p:cNvSpPr>
          <p:nvPr/>
        </p:nvSpPr>
        <p:spPr>
          <a:xfrm>
            <a:off x="2638425" y="3773488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42A3E3-7172-457C-8BFC-E437CEDBEDB5}"/>
              </a:ext>
            </a:extLst>
          </p:cNvPr>
          <p:cNvSpPr>
            <a:spLocks noGrp="1"/>
          </p:cNvSpPr>
          <p:nvPr/>
        </p:nvSpPr>
        <p:spPr>
          <a:xfrm>
            <a:off x="3152775" y="3522663"/>
            <a:ext cx="361950" cy="1335088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018081-B66B-422E-AA66-535BDADD0CC7}"/>
              </a:ext>
            </a:extLst>
          </p:cNvPr>
          <p:cNvSpPr>
            <a:spLocks noGrp="1"/>
          </p:cNvSpPr>
          <p:nvPr/>
        </p:nvSpPr>
        <p:spPr>
          <a:xfrm>
            <a:off x="3114675" y="3313113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3F55C5-C8E5-4791-980E-D84EB591667F}"/>
              </a:ext>
            </a:extLst>
          </p:cNvPr>
          <p:cNvSpPr>
            <a:spLocks noGrp="1"/>
          </p:cNvSpPr>
          <p:nvPr/>
        </p:nvSpPr>
        <p:spPr>
          <a:xfrm>
            <a:off x="2368550" y="5029200"/>
            <a:ext cx="147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ACC939-8ED5-4B49-981E-8A34727D2E88}"/>
              </a:ext>
            </a:extLst>
          </p:cNvPr>
          <p:cNvSpPr>
            <a:spLocks noGrp="1"/>
          </p:cNvSpPr>
          <p:nvPr/>
        </p:nvSpPr>
        <p:spPr>
          <a:xfrm>
            <a:off x="4264025" y="4535488"/>
            <a:ext cx="361950" cy="322263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956697-1003-4A0A-BCA1-5671D5E30012}"/>
              </a:ext>
            </a:extLst>
          </p:cNvPr>
          <p:cNvSpPr>
            <a:spLocks noGrp="1"/>
          </p:cNvSpPr>
          <p:nvPr/>
        </p:nvSpPr>
        <p:spPr>
          <a:xfrm>
            <a:off x="4225925" y="4325938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B78243-1DB5-4D52-BDB0-E04202477D9D}"/>
              </a:ext>
            </a:extLst>
          </p:cNvPr>
          <p:cNvSpPr>
            <a:spLocks noGrp="1"/>
          </p:cNvSpPr>
          <p:nvPr/>
        </p:nvSpPr>
        <p:spPr>
          <a:xfrm>
            <a:off x="4740275" y="4144169"/>
            <a:ext cx="361950" cy="713581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C08C9C-19CC-4DCF-BC40-44B46AA75AC6}"/>
              </a:ext>
            </a:extLst>
          </p:cNvPr>
          <p:cNvSpPr>
            <a:spLocks noGrp="1"/>
          </p:cNvSpPr>
          <p:nvPr/>
        </p:nvSpPr>
        <p:spPr>
          <a:xfrm>
            <a:off x="4702175" y="3934619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3FBB91-3563-4B56-B021-AB139D0ED691}"/>
              </a:ext>
            </a:extLst>
          </p:cNvPr>
          <p:cNvSpPr>
            <a:spLocks noGrp="1"/>
          </p:cNvSpPr>
          <p:nvPr/>
        </p:nvSpPr>
        <p:spPr>
          <a:xfrm>
            <a:off x="3956050" y="5029200"/>
            <a:ext cx="147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745F7B-146C-4D62-B229-D619DD9EFAF7}"/>
              </a:ext>
            </a:extLst>
          </p:cNvPr>
          <p:cNvSpPr>
            <a:spLocks noGrp="1"/>
          </p:cNvSpPr>
          <p:nvPr/>
        </p:nvSpPr>
        <p:spPr>
          <a:xfrm>
            <a:off x="3009900" y="1771650"/>
            <a:ext cx="133350" cy="13335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84BC1A-B90B-40A8-8AF0-C4E14537BA7E}"/>
              </a:ext>
            </a:extLst>
          </p:cNvPr>
          <p:cNvSpPr>
            <a:spLocks noGrp="1"/>
          </p:cNvSpPr>
          <p:nvPr/>
        </p:nvSpPr>
        <p:spPr>
          <a:xfrm>
            <a:off x="3200400" y="17526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without privacy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7306DF-DB2D-46B1-9C87-6C122C4C5C41}"/>
              </a:ext>
            </a:extLst>
          </p:cNvPr>
          <p:cNvSpPr>
            <a:spLocks noGrp="1"/>
          </p:cNvSpPr>
          <p:nvPr/>
        </p:nvSpPr>
        <p:spPr>
          <a:xfrm>
            <a:off x="3009900" y="1981200"/>
            <a:ext cx="133350" cy="1333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CB17A9-5780-4E45-A411-051D17F1107A}"/>
              </a:ext>
            </a:extLst>
          </p:cNvPr>
          <p:cNvSpPr>
            <a:spLocks noGrp="1"/>
          </p:cNvSpPr>
          <p:nvPr/>
        </p:nvSpPr>
        <p:spPr>
          <a:xfrm>
            <a:off x="3200400" y="19621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 privacy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AEBDA1-D727-400D-BF5D-F77EEC7F6BEB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Volume index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FEEC0E-F5CB-4AB6-AD64-265D9CC2BEA4}"/>
              </a:ext>
            </a:extLst>
          </p:cNvPr>
          <p:cNvSpPr>
            <a:spLocks noGrp="1"/>
          </p:cNvSpPr>
          <p:nvPr/>
        </p:nvSpPr>
        <p:spPr>
          <a:xfrm rot="16200000">
            <a:off x="5370202" y="3338307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Monthly volume index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A3AB46-ABEE-4FF3-AE5A-0626FC618DDC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CCDA6B-6282-4F3B-A759-AC7656284179}"/>
              </a:ext>
            </a:extLst>
          </p:cNvPr>
          <p:cNvSpPr>
            <a:spLocks noGrp="1"/>
          </p:cNvSpPr>
          <p:nvPr/>
        </p:nvSpPr>
        <p:spPr>
          <a:xfrm>
            <a:off x="6134100" y="479107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D8971D-3842-4873-9901-A0C70D2D0C4A}"/>
              </a:ext>
            </a:extLst>
          </p:cNvPr>
          <p:cNvSpPr>
            <a:spLocks noGrp="1"/>
          </p:cNvSpPr>
          <p:nvPr/>
        </p:nvSpPr>
        <p:spPr>
          <a:xfrm>
            <a:off x="6477000" y="4167188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C5D912-718C-481D-8514-56711F092ED6}"/>
              </a:ext>
            </a:extLst>
          </p:cNvPr>
          <p:cNvSpPr>
            <a:spLocks noGrp="1"/>
          </p:cNvSpPr>
          <p:nvPr/>
        </p:nvSpPr>
        <p:spPr>
          <a:xfrm>
            <a:off x="6134100" y="4100513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4FE552D-AA65-4463-94E4-7EE008194E1B}"/>
              </a:ext>
            </a:extLst>
          </p:cNvPr>
          <p:cNvSpPr>
            <a:spLocks noGrp="1"/>
          </p:cNvSpPr>
          <p:nvPr/>
        </p:nvSpPr>
        <p:spPr>
          <a:xfrm>
            <a:off x="6477000" y="3476625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F46EC1-8CBD-4920-9021-C6141F6FFF10}"/>
              </a:ext>
            </a:extLst>
          </p:cNvPr>
          <p:cNvSpPr>
            <a:spLocks noGrp="1"/>
          </p:cNvSpPr>
          <p:nvPr/>
        </p:nvSpPr>
        <p:spPr>
          <a:xfrm>
            <a:off x="6134100" y="34099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E3EA40-B71B-41FD-B992-A3C9C1A30F2C}"/>
              </a:ext>
            </a:extLst>
          </p:cNvPr>
          <p:cNvSpPr>
            <a:spLocks noGrp="1"/>
          </p:cNvSpPr>
          <p:nvPr/>
        </p:nvSpPr>
        <p:spPr>
          <a:xfrm>
            <a:off x="6477000" y="2786063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CF4382-3012-4C86-BC1F-DA8AF45BEE83}"/>
              </a:ext>
            </a:extLst>
          </p:cNvPr>
          <p:cNvSpPr>
            <a:spLocks noGrp="1"/>
          </p:cNvSpPr>
          <p:nvPr/>
        </p:nvSpPr>
        <p:spPr>
          <a:xfrm>
            <a:off x="6134100" y="2719388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63A329-E915-4140-94C3-5EFF6B2C69ED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762500" cy="9525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F711A3-233A-4D17-9445-F3FE5FCD882B}"/>
              </a:ext>
            </a:extLst>
          </p:cNvPr>
          <p:cNvSpPr>
            <a:spLocks noGrp="1"/>
          </p:cNvSpPr>
          <p:nvPr/>
        </p:nvSpPr>
        <p:spPr>
          <a:xfrm>
            <a:off x="6134100" y="2028825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F05EBE3-8B3E-4816-813E-DF28CF8D708E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9525" cy="27622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D67E24-E6BB-4B42-9BCE-0AD26C72FD31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4762500" cy="9525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00B519-0B66-4D78-8C41-1E679D98ECF8}"/>
              </a:ext>
            </a:extLst>
          </p:cNvPr>
          <p:cNvSpPr>
            <a:spLocks noGrp="1"/>
          </p:cNvSpPr>
          <p:nvPr/>
        </p:nvSpPr>
        <p:spPr>
          <a:xfrm>
            <a:off x="6842125" y="4546997"/>
            <a:ext cx="361950" cy="310753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63B784-7F5C-43D3-BAF7-27C5FDFBCF77}"/>
              </a:ext>
            </a:extLst>
          </p:cNvPr>
          <p:cNvSpPr>
            <a:spLocks noGrp="1"/>
          </p:cNvSpPr>
          <p:nvPr/>
        </p:nvSpPr>
        <p:spPr>
          <a:xfrm>
            <a:off x="6804025" y="4337447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EECDFA-705B-4141-BA99-3E5ED0FDC469}"/>
              </a:ext>
            </a:extLst>
          </p:cNvPr>
          <p:cNvSpPr>
            <a:spLocks noGrp="1"/>
          </p:cNvSpPr>
          <p:nvPr/>
        </p:nvSpPr>
        <p:spPr>
          <a:xfrm>
            <a:off x="7318375" y="4426148"/>
            <a:ext cx="361950" cy="431602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A06F18-116A-4E81-BD03-BE0125223695}"/>
              </a:ext>
            </a:extLst>
          </p:cNvPr>
          <p:cNvSpPr>
            <a:spLocks noGrp="1"/>
          </p:cNvSpPr>
          <p:nvPr/>
        </p:nvSpPr>
        <p:spPr>
          <a:xfrm>
            <a:off x="7280275" y="4216598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E0D37C-2C24-4AEC-BCFD-739708F93017}"/>
              </a:ext>
            </a:extLst>
          </p:cNvPr>
          <p:cNvSpPr>
            <a:spLocks noGrp="1"/>
          </p:cNvSpPr>
          <p:nvPr/>
        </p:nvSpPr>
        <p:spPr>
          <a:xfrm>
            <a:off x="6534150" y="5029200"/>
            <a:ext cx="147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Micro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2043009-A23E-4A19-8B99-ED3F316FCA69}"/>
              </a:ext>
            </a:extLst>
          </p:cNvPr>
          <p:cNvSpPr>
            <a:spLocks noGrp="1"/>
          </p:cNvSpPr>
          <p:nvPr/>
        </p:nvSpPr>
        <p:spPr>
          <a:xfrm>
            <a:off x="8429625" y="4080867"/>
            <a:ext cx="361950" cy="776883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5DC312D-3FE8-4546-889E-6E1473170564}"/>
              </a:ext>
            </a:extLst>
          </p:cNvPr>
          <p:cNvSpPr>
            <a:spLocks noGrp="1"/>
          </p:cNvSpPr>
          <p:nvPr/>
        </p:nvSpPr>
        <p:spPr>
          <a:xfrm>
            <a:off x="8391525" y="3871317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B0ACA9F-C686-45D8-B30E-5A5BAA705219}"/>
              </a:ext>
            </a:extLst>
          </p:cNvPr>
          <p:cNvSpPr>
            <a:spLocks noGrp="1"/>
          </p:cNvSpPr>
          <p:nvPr/>
        </p:nvSpPr>
        <p:spPr>
          <a:xfrm>
            <a:off x="8905875" y="3442097"/>
            <a:ext cx="361950" cy="1415653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9DCA92-53F4-4EA3-A9BD-41E4911EAD6E}"/>
              </a:ext>
            </a:extLst>
          </p:cNvPr>
          <p:cNvSpPr>
            <a:spLocks noGrp="1"/>
          </p:cNvSpPr>
          <p:nvPr/>
        </p:nvSpPr>
        <p:spPr>
          <a:xfrm>
            <a:off x="8867775" y="3232547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C9FF8B7-DF85-4B25-837C-7CDDCD785695}"/>
              </a:ext>
            </a:extLst>
          </p:cNvPr>
          <p:cNvSpPr>
            <a:spLocks noGrp="1"/>
          </p:cNvSpPr>
          <p:nvPr/>
        </p:nvSpPr>
        <p:spPr>
          <a:xfrm>
            <a:off x="8121650" y="5029200"/>
            <a:ext cx="147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1387069-E0EA-4AC8-81F2-6B3C54C35FFC}"/>
              </a:ext>
            </a:extLst>
          </p:cNvPr>
          <p:cNvSpPr>
            <a:spLocks noGrp="1"/>
          </p:cNvSpPr>
          <p:nvPr/>
        </p:nvSpPr>
        <p:spPr>
          <a:xfrm>
            <a:off x="10017125" y="4132659"/>
            <a:ext cx="361950" cy="725091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79ECD4C-8926-40C1-ABB2-265CFB8E83C3}"/>
              </a:ext>
            </a:extLst>
          </p:cNvPr>
          <p:cNvSpPr>
            <a:spLocks noGrp="1"/>
          </p:cNvSpPr>
          <p:nvPr/>
        </p:nvSpPr>
        <p:spPr>
          <a:xfrm>
            <a:off x="9979025" y="3923109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C267BE-CE2B-42DD-9C6E-51F8395EBDB9}"/>
              </a:ext>
            </a:extLst>
          </p:cNvPr>
          <p:cNvSpPr>
            <a:spLocks noGrp="1"/>
          </p:cNvSpPr>
          <p:nvPr/>
        </p:nvSpPr>
        <p:spPr>
          <a:xfrm>
            <a:off x="10493375" y="2527102"/>
            <a:ext cx="361950" cy="2330648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3201546-D030-4467-A319-B35F8816A279}"/>
              </a:ext>
            </a:extLst>
          </p:cNvPr>
          <p:cNvSpPr>
            <a:spLocks noGrp="1"/>
          </p:cNvSpPr>
          <p:nvPr/>
        </p:nvSpPr>
        <p:spPr>
          <a:xfrm>
            <a:off x="10455275" y="2317552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0A7E011-D1D2-4029-9485-31C23917EDA2}"/>
              </a:ext>
            </a:extLst>
          </p:cNvPr>
          <p:cNvSpPr>
            <a:spLocks noGrp="1"/>
          </p:cNvSpPr>
          <p:nvPr/>
        </p:nvSpPr>
        <p:spPr>
          <a:xfrm>
            <a:off x="9709150" y="5029200"/>
            <a:ext cx="147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D4B6B4-BBBD-4E1A-B5D7-776024DFF003}"/>
              </a:ext>
            </a:extLst>
          </p:cNvPr>
          <p:cNvSpPr>
            <a:spLocks noGrp="1"/>
          </p:cNvSpPr>
          <p:nvPr/>
        </p:nvSpPr>
        <p:spPr>
          <a:xfrm>
            <a:off x="8763000" y="1771650"/>
            <a:ext cx="133350" cy="13335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E0C5B4C-170B-4EB5-8FFE-0EA3B84FC323}"/>
              </a:ext>
            </a:extLst>
          </p:cNvPr>
          <p:cNvSpPr>
            <a:spLocks noGrp="1"/>
          </p:cNvSpPr>
          <p:nvPr/>
        </p:nvSpPr>
        <p:spPr>
          <a:xfrm>
            <a:off x="8953500" y="17526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without privacy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05DF1B5-0F06-47F7-AF25-A85828B63827}"/>
              </a:ext>
            </a:extLst>
          </p:cNvPr>
          <p:cNvSpPr>
            <a:spLocks noGrp="1"/>
          </p:cNvSpPr>
          <p:nvPr/>
        </p:nvSpPr>
        <p:spPr>
          <a:xfrm>
            <a:off x="8763000" y="1981200"/>
            <a:ext cx="133350" cy="1333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6B65497-9DD6-4631-8E50-EDC77E4F5240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 privacy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4E22CA4-69E0-41B2-97FD-8811B014D633}"/>
              </a:ext>
            </a:extLst>
          </p:cNvPr>
          <p:cNvSpPr>
            <a:spLocks noGrp="1"/>
          </p:cNvSpPr>
          <p:nvPr/>
        </p:nvSpPr>
        <p:spPr>
          <a:xfrm>
            <a:off x="819150" y="55245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Illustrative model: micro-tools are high-frequency; sensitive services are higher-ticket. Privacy reduces the trust bottleneck in both.</a:t>
            </a:r>
          </a:p>
        </p:txBody>
      </p:sp>
    </p:spTree>
    <p:extLst>
      <p:ext uri="{BB962C8B-B14F-4D97-AF65-F5344CB8AC3E}">
        <p14:creationId xmlns:p14="http://schemas.microsoft.com/office/powerpoint/2010/main" val="86988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DA7D933-A1C4-4A7C-8C46-0DB6ECD515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FA2B7-C24E-48DC-B454-61580EC5676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ECOSYSTEM FIT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1AF419-4EDA-47B7-8721-F235AD5C28A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adapter sits under agent markets as a reusable payment privacy boundary.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4DCE53-416E-4203-9FBB-200ADFFD75AB}"/>
              </a:ext>
            </a:extLst>
          </p:cNvPr>
          <p:cNvSpPr>
            <a:spLocks noGrp="1"/>
          </p:cNvSpPr>
          <p:nvPr/>
        </p:nvSpPr>
        <p:spPr>
          <a:xfrm>
            <a:off x="11125200" y="6115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A8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1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4FA21C-65E4-4CCA-B592-95C27D5A9C75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96500" cy="9525"/>
          </a:xfrm>
          <a:prstGeom prst="rect">
            <a:avLst/>
          </a:prstGeom>
          <a:solidFill>
            <a:srgbClr val="D8D2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D69CA-90D2-4622-AE08-D2652CDBD43A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476500" cy="819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EDD63B-8C68-402B-8B2E-1C6F4C934EEB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2133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ERC-8004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identity / reputation / validation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BE83B27-FC7F-4E14-98A1-0CBECD790B57}"/>
              </a:ext>
            </a:extLst>
          </p:cNvPr>
          <p:cNvSpPr>
            <a:spLocks noGrp="1"/>
          </p:cNvSpPr>
          <p:nvPr/>
        </p:nvSpPr>
        <p:spPr>
          <a:xfrm>
            <a:off x="2057400" y="2647950"/>
            <a:ext cx="3657600" cy="6858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D5902-FE65-444B-B21A-2702D171133A}"/>
              </a:ext>
            </a:extLst>
          </p:cNvPr>
          <p:cNvSpPr>
            <a:spLocks noGrp="1"/>
          </p:cNvSpPr>
          <p:nvPr/>
        </p:nvSpPr>
        <p:spPr>
          <a:xfrm>
            <a:off x="3962400" y="1809750"/>
            <a:ext cx="2476500" cy="819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814BBE-A06D-4D90-B9CA-5CC59D6D5B4C}"/>
              </a:ext>
            </a:extLst>
          </p:cNvPr>
          <p:cNvSpPr>
            <a:spLocks noGrp="1"/>
          </p:cNvSpPr>
          <p:nvPr/>
        </p:nvSpPr>
        <p:spPr>
          <a:xfrm>
            <a:off x="4133850" y="2000250"/>
            <a:ext cx="2133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Virtuals ACP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/ escrow / job lifecycle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E28438F-60FD-4729-9E6F-6BA1F76D34BF}"/>
              </a:ext>
            </a:extLst>
          </p:cNvPr>
          <p:cNvSpPr>
            <a:spLocks noGrp="1"/>
          </p:cNvSpPr>
          <p:nvPr/>
        </p:nvSpPr>
        <p:spPr>
          <a:xfrm>
            <a:off x="5200650" y="2647950"/>
            <a:ext cx="523875" cy="6858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391CF5-A195-46C1-835A-0D9D3D1272DF}"/>
              </a:ext>
            </a:extLst>
          </p:cNvPr>
          <p:cNvSpPr>
            <a:spLocks noGrp="1"/>
          </p:cNvSpPr>
          <p:nvPr/>
        </p:nvSpPr>
        <p:spPr>
          <a:xfrm>
            <a:off x="7105650" y="1809750"/>
            <a:ext cx="2476500" cy="819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0CF4D1-938D-4B30-9857-13F8B880466C}"/>
              </a:ext>
            </a:extLst>
          </p:cNvPr>
          <p:cNvSpPr>
            <a:spLocks noGrp="1"/>
          </p:cNvSpPr>
          <p:nvPr/>
        </p:nvSpPr>
        <p:spPr>
          <a:xfrm>
            <a:off x="7277100" y="2000250"/>
            <a:ext cx="2133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NEAR Agent Market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task marketplace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32B553E-301B-417E-AC9D-AC68533D52DC}"/>
              </a:ext>
            </a:extLst>
          </p:cNvPr>
          <p:cNvSpPr>
            <a:spLocks noGrp="1"/>
          </p:cNvSpPr>
          <p:nvPr/>
        </p:nvSpPr>
        <p:spPr>
          <a:xfrm flipH="1">
            <a:off x="5724524" y="2628900"/>
            <a:ext cx="2657475" cy="7048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DEF58-6995-41A5-A24B-2A569F797E58}"/>
              </a:ext>
            </a:extLst>
          </p:cNvPr>
          <p:cNvSpPr>
            <a:spLocks noGrp="1"/>
          </p:cNvSpPr>
          <p:nvPr/>
        </p:nvSpPr>
        <p:spPr>
          <a:xfrm>
            <a:off x="4000500" y="3333750"/>
            <a:ext cx="3429000" cy="8763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1596A5-9416-44D7-AFED-E200E5FAF7F9}"/>
              </a:ext>
            </a:extLst>
          </p:cNvPr>
          <p:cNvSpPr>
            <a:spLocks noGrp="1"/>
          </p:cNvSpPr>
          <p:nvPr/>
        </p:nvSpPr>
        <p:spPr>
          <a:xfrm>
            <a:off x="4305300" y="356235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x402 paid resource 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285886-5404-4CEB-AAA2-7F92A95530ED}"/>
              </a:ext>
            </a:extLst>
          </p:cNvPr>
          <p:cNvSpPr>
            <a:spLocks noGrp="1"/>
          </p:cNvSpPr>
          <p:nvPr/>
        </p:nvSpPr>
        <p:spPr>
          <a:xfrm>
            <a:off x="4572000" y="38671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quote -&gt; pay -&gt; retry -&gt; result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0719A23-1738-469D-9616-67D561BAEABE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9525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5864CE-3692-467B-8958-EEFF0C6EAB13}"/>
              </a:ext>
            </a:extLst>
          </p:cNvPr>
          <p:cNvSpPr>
            <a:spLocks noGrp="1"/>
          </p:cNvSpPr>
          <p:nvPr/>
        </p:nvSpPr>
        <p:spPr>
          <a:xfrm>
            <a:off x="3509077" y="4716152"/>
            <a:ext cx="4430893" cy="83820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250D7F-4AE0-455C-ADF7-67FD2155A989}"/>
              </a:ext>
            </a:extLst>
          </p:cNvPr>
          <p:cNvSpPr>
            <a:spLocks noGrp="1"/>
          </p:cNvSpPr>
          <p:nvPr/>
        </p:nvSpPr>
        <p:spPr>
          <a:xfrm>
            <a:off x="4000500" y="4895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Privacy-aware payment adapter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25C771-EB0B-437D-A905-F656503A1717}"/>
              </a:ext>
            </a:extLst>
          </p:cNvPr>
          <p:cNvSpPr>
            <a:spLocks noGrp="1"/>
          </p:cNvSpPr>
          <p:nvPr/>
        </p:nvSpPr>
        <p:spPr>
          <a:xfrm>
            <a:off x="4000500" y="52197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policy + private funding + receipt + validation hook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75943-69DD-45CA-9A9C-48C59756281C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895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Roadmap: plug in Curvy/crops.cash, px402, disposable payer rotation, and stronger selective disclosure without changing x402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1455589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Office PowerPoint</Application>
  <DocSecurity>0</DocSecurity>
  <PresentationFormat>Widescreen</PresentationFormat>
  <Paragraphs>149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ZHANG Zuocheng</cp:lastModifiedBy>
  <cp:revision>1</cp:revision>
  <dcterms:created xsi:type="dcterms:W3CDTF">2026-06-10T12:43:50Z</dcterms:created>
  <dcterms:modified xsi:type="dcterms:W3CDTF">2026-06-10T13:08:07Z</dcterms:modified>
</cp:coreProperties>
</file>